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ed1c921e0046a5" /><Relationship Type="http://schemas.openxmlformats.org/officeDocument/2006/relationships/extended-properties" Target="/docProps/app.xml" Id="R2a29f141971f4bbd" /><Relationship Type="http://schemas.openxmlformats.org/officeDocument/2006/relationships/officeDocument" Target="/ppt/presentation.xml" Id="R24eb6a9d3e264f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2c649f768441e7"/>
  </p:sldMasterIdLst>
  <p:notesMasterIdLst>
    <p:notesMasterId xmlns:r="http://schemas.openxmlformats.org/officeDocument/2006/relationships" r:id="R6a18e0754a0a49dc"/>
  </p:notesMasterIdLst>
  <p:sldIdLst>
    <p:sldId xmlns:r="http://schemas.openxmlformats.org/officeDocument/2006/relationships" id="256" r:id="Rd7655d9de41b4ee8"/>
    <p:sldId xmlns:r="http://schemas.openxmlformats.org/officeDocument/2006/relationships" id="257" r:id="Rf5e509f1e63f44ad"/>
    <p:sldId xmlns:r="http://schemas.openxmlformats.org/officeDocument/2006/relationships" id="258" r:id="R0a18c80fee5c4f39"/>
    <p:sldId xmlns:r="http://schemas.openxmlformats.org/officeDocument/2006/relationships" id="259" r:id="R2c429ea540a44248"/>
    <p:sldId xmlns:r="http://schemas.openxmlformats.org/officeDocument/2006/relationships" id="260" r:id="R05cb2c152ef54ce6"/>
    <p:sldId xmlns:r="http://schemas.openxmlformats.org/officeDocument/2006/relationships" id="261" r:id="R5f217c02b91f47f0"/>
    <p:sldId xmlns:r="http://schemas.openxmlformats.org/officeDocument/2006/relationships" id="262" r:id="R780a73d0b46741d7"/>
    <p:sldId xmlns:r="http://schemas.openxmlformats.org/officeDocument/2006/relationships" id="263" r:id="R7c89bcd1422d4f35"/>
    <p:sldId xmlns:r="http://schemas.openxmlformats.org/officeDocument/2006/relationships" id="264" r:id="R0eb1bc17411d437f"/>
    <p:sldId xmlns:r="http://schemas.openxmlformats.org/officeDocument/2006/relationships" id="265" r:id="Rc2aad4c90edb4d5c"/>
    <p:sldId xmlns:r="http://schemas.openxmlformats.org/officeDocument/2006/relationships" id="266" r:id="R8616dc6dd2e34ef4"/>
    <p:sldId xmlns:r="http://schemas.openxmlformats.org/officeDocument/2006/relationships" id="267" r:id="Rc742d9dfdc954f91"/>
    <p:sldId xmlns:r="http://schemas.openxmlformats.org/officeDocument/2006/relationships" id="268" r:id="R24076213a057470f"/>
    <p:sldId xmlns:r="http://schemas.openxmlformats.org/officeDocument/2006/relationships" id="269" r:id="Rcff1d99ab5a24490"/>
    <p:sldId xmlns:r="http://schemas.openxmlformats.org/officeDocument/2006/relationships" id="270" r:id="R76dce46eed114a80"/>
    <p:sldId xmlns:r="http://schemas.openxmlformats.org/officeDocument/2006/relationships" id="271" r:id="Rf73fc09d2d3248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49b3f8022e4be1" /><Relationship Type="http://schemas.openxmlformats.org/officeDocument/2006/relationships/slideMaster" Target="/ppt/slideMasters/slideMaster1.xml" Id="R3b2c649f768441e7" /><Relationship Type="http://schemas.openxmlformats.org/officeDocument/2006/relationships/notesMaster" Target="/ppt/notesMasters/notesMaster1.xml" Id="R6a18e0754a0a49dc" /><Relationship Type="http://schemas.openxmlformats.org/officeDocument/2006/relationships/presProps" Target="/ppt/presProps.xml" Id="R719c2c2560ab4811" /><Relationship Type="http://schemas.openxmlformats.org/officeDocument/2006/relationships/tableStyles" Target="/ppt/tableStyles.xml" Id="R0c5eb2c1d8d5411d" /><Relationship Type="http://schemas.openxmlformats.org/officeDocument/2006/relationships/slide" Target="/ppt/slides/slide1.xml" Id="Rd7655d9de41b4ee8" /><Relationship Type="http://schemas.openxmlformats.org/officeDocument/2006/relationships/slide" Target="/ppt/slides/slide2.xml" Id="Rf5e509f1e63f44ad" /><Relationship Type="http://schemas.openxmlformats.org/officeDocument/2006/relationships/slide" Target="/ppt/slides/slide3.xml" Id="R0a18c80fee5c4f39" /><Relationship Type="http://schemas.openxmlformats.org/officeDocument/2006/relationships/slide" Target="/ppt/slides/slide4.xml" Id="R2c429ea540a44248" /><Relationship Type="http://schemas.openxmlformats.org/officeDocument/2006/relationships/slide" Target="/ppt/slides/slide5.xml" Id="R05cb2c152ef54ce6" /><Relationship Type="http://schemas.openxmlformats.org/officeDocument/2006/relationships/slide" Target="/ppt/slides/slide6.xml" Id="R5f217c02b91f47f0" /><Relationship Type="http://schemas.openxmlformats.org/officeDocument/2006/relationships/slide" Target="/ppt/slides/slide7.xml" Id="R780a73d0b46741d7" /><Relationship Type="http://schemas.openxmlformats.org/officeDocument/2006/relationships/slide" Target="/ppt/slides/slide8.xml" Id="R7c89bcd1422d4f35" /><Relationship Type="http://schemas.openxmlformats.org/officeDocument/2006/relationships/slide" Target="/ppt/slides/slide9.xml" Id="R0eb1bc17411d437f" /><Relationship Type="http://schemas.openxmlformats.org/officeDocument/2006/relationships/slide" Target="/ppt/slides/slide10.xml" Id="Rc2aad4c90edb4d5c" /><Relationship Type="http://schemas.openxmlformats.org/officeDocument/2006/relationships/slide" Target="/ppt/slides/slide11.xml" Id="R8616dc6dd2e34ef4" /><Relationship Type="http://schemas.openxmlformats.org/officeDocument/2006/relationships/slide" Target="/ppt/slides/slide12.xml" Id="Rc742d9dfdc954f91" /><Relationship Type="http://schemas.openxmlformats.org/officeDocument/2006/relationships/slide" Target="/ppt/slides/slide13.xml" Id="R24076213a057470f" /><Relationship Type="http://schemas.openxmlformats.org/officeDocument/2006/relationships/slide" Target="/ppt/slides/slide14.xml" Id="Rcff1d99ab5a24490" /><Relationship Type="http://schemas.openxmlformats.org/officeDocument/2006/relationships/slide" Target="/ppt/slides/slide15.xml" Id="R76dce46eed114a80" /><Relationship Type="http://schemas.openxmlformats.org/officeDocument/2006/relationships/slide" Target="/ppt/slides/slide16.xml" Id="Rf73fc09d2d3248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72b4640f064d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f108bcdb4a4e68" /><Relationship Type="http://schemas.openxmlformats.org/officeDocument/2006/relationships/notesMaster" Target="/ppt/notesMasters/notesMaster1.xml" Id="Rffcd10989ebb4b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954e7327a043dc" /><Relationship Type="http://schemas.openxmlformats.org/officeDocument/2006/relationships/notesMaster" Target="/ppt/notesMasters/notesMaster1.xml" Id="Rb6add8d8adae40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592d9a4a2f4f41" /><Relationship Type="http://schemas.openxmlformats.org/officeDocument/2006/relationships/notesMaster" Target="/ppt/notesMasters/notesMaster1.xml" Id="R163a0404138b41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ab7e2b2bf44ae0" /><Relationship Type="http://schemas.openxmlformats.org/officeDocument/2006/relationships/notesMaster" Target="/ppt/notesMasters/notesMaster1.xml" Id="R8585fcb4845140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3ba00daa1d476e" /><Relationship Type="http://schemas.openxmlformats.org/officeDocument/2006/relationships/notesMaster" Target="/ppt/notesMasters/notesMaster1.xml" Id="R1c3e702acbb14b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975e38bc1c4a1c" /><Relationship Type="http://schemas.openxmlformats.org/officeDocument/2006/relationships/notesMaster" Target="/ppt/notesMasters/notesMaster1.xml" Id="Rcb907a95fd584c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50b86016874fa4" /><Relationship Type="http://schemas.openxmlformats.org/officeDocument/2006/relationships/notesMaster" Target="/ppt/notesMasters/notesMaster1.xml" Id="R7eb0425e1a2843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7df93a33584810" /><Relationship Type="http://schemas.openxmlformats.org/officeDocument/2006/relationships/notesMaster" Target="/ppt/notesMasters/notesMaster1.xml" Id="R5d1b99a74ec14a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6bbe0b0cdd45cb" /><Relationship Type="http://schemas.openxmlformats.org/officeDocument/2006/relationships/notesMaster" Target="/ppt/notesMasters/notesMaster1.xml" Id="Rfa30c1f3b47045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70f6be883a4f76" /><Relationship Type="http://schemas.openxmlformats.org/officeDocument/2006/relationships/notesMaster" Target="/ppt/notesMasters/notesMaster1.xml" Id="R8fe78f56d53a4d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e99362ff084e51" /><Relationship Type="http://schemas.openxmlformats.org/officeDocument/2006/relationships/notesMaster" Target="/ppt/notesMasters/notesMaster1.xml" Id="R88c527640eab4e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af4d1a808f46ec" /><Relationship Type="http://schemas.openxmlformats.org/officeDocument/2006/relationships/notesMaster" Target="/ppt/notesMasters/notesMaster1.xml" Id="R144885f1cd874b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3c7905282341d8" /><Relationship Type="http://schemas.openxmlformats.org/officeDocument/2006/relationships/notesMaster" Target="/ppt/notesMasters/notesMaster1.xml" Id="R46a7d11f60c742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438d6230794fc7" /><Relationship Type="http://schemas.openxmlformats.org/officeDocument/2006/relationships/notesMaster" Target="/ppt/notesMasters/notesMaster1.xml" Id="R44f0cc22fb6944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daa718fe0c4a14" /><Relationship Type="http://schemas.openxmlformats.org/officeDocument/2006/relationships/notesMaster" Target="/ppt/notesMasters/notesMaster1.xml" Id="R91f10d7b584d44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2b638e06ee4a09" /><Relationship Type="http://schemas.openxmlformats.org/officeDocument/2006/relationships/notesMaster" Target="/ppt/notesMasters/notesMaster1.xml" Id="R62c17ae4fb364c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표지. 가이드 기준 표지는 최대 20p 제한에서 제외된다.</a:t>
            </a:r>
          </a:p>
          <a:p xmlns:a="http://schemas.openxmlformats.org/drawingml/2006/main">
            <a:r>
              <a:t>주요 구현 근거: README.md, reports/sw-evidence-summary.md, reliefcheck/ui.</a:t>
            </a:r>
          </a:p>
          <a:p xmlns:a="http://schemas.openxmlformats.org/drawingml/2006/main">
            <a:r>
              <a:t>발표 시작은 문제 정의보다 먼저 시스템 한 줄 정의를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가이드 PDF: 제24회 임베디드SW경진대회 개발완료보고서 작성 안내, 2026-05-06.</a:t>
            </a:r>
          </a:p>
          <a:p xmlns:a="http://schemas.openxmlformats.org/drawingml/2006/main">
            <a:r>
              <a:t>가이드 요구: PDF 제출, 최대 20p, source code/video links required.</a:t>
            </a:r>
          </a:p>
          <a:p xmlns:a="http://schemas.openxmlformats.org/drawingml/2006/main">
            <a:r>
              <a:t>현재 확인된 source code URL은 GitHub 원격 저장소 기준이다. 실제 영상 URL은 촬영 후 교체해야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 근거: README.md 문제 정의 항목.</a:t>
            </a:r>
          </a:p>
          <a:p xmlns:a="http://schemas.openxmlformats.org/drawingml/2006/main">
            <a:r>
              <a:t>발표 시 '편의 기능'이 아니라 재난 현장 운영 신뢰성 문제라고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docs/07-competition-readiness.md 및 reports/sw-evidence-summary.md.</a:t>
            </a:r>
          </a:p>
          <a:p xmlns:a="http://schemas.openxmlformats.org/drawingml/2006/main">
            <a:r>
              <a:t>실장비 성능 수치는 측정 전까지 주장하지 않는 것이 더 신뢰성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README.md 1차 3D 모델링, docs/10-3d-model-v1.md, models/reliefcheck-kiosk-v1.json.</a:t>
            </a:r>
          </a:p>
          <a:p xmlns:a="http://schemas.openxmlformats.org/drawingml/2006/main">
            <a:r>
              <a:t>1차 모델은 제작 확정 도면이 아니라 장치 배치 설명용 개념 모델임을 명확히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docs/01-mvp-architecture.md, reliefcheck/main.py, reliefcheck/services/distribution.py.</a:t>
            </a:r>
          </a:p>
          <a:p xmlns:a="http://schemas.openxmlformats.org/drawingml/2006/main">
            <a:r>
              <a:t>심사위원에게 '장비 없이도 검증 가능하고, 장비 연결 시 어댑터만 교체한다'는 구조를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README.md 시연 흐름 및 reliefcheck/ui 캡처.</a:t>
            </a:r>
          </a:p>
          <a:p xmlns:a="http://schemas.openxmlformats.org/drawingml/2006/main">
            <a:r>
              <a:t>발표 영상에서는 화면 클릭이 아니라 실제 가구 카드, 물품 태그 순서로 촬영하는 것이 좋다.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README.md 시연 흐름, reports/sw-evidence-summary.md 판정 코드 커버리지, reliefcheck/policy/rule_engine.py.</a:t>
            </a:r>
          </a:p>
          <a:p xmlns:a="http://schemas.openxmlformats.org/drawingml/2006/main">
            <a:r>
              <a:t>P001은 출력 장애를 거래 판정과 분리하는 설명용 코드 성격으로 다룬다.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reports/experiment-summary.md 거래 요약 및 최근 거래, README.md 시스템 구조.</a:t>
            </a:r>
          </a:p>
          <a:p xmlns:a="http://schemas.openxmlformats.org/drawingml/2006/main">
            <a:r>
              <a:t>현재 실험 DB 기준 22건 거래와 22개 감사 해시가 존재한다.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README.md 주요 파일 목록 및 rg --files 결과.</a:t>
            </a:r>
          </a:p>
          <a:p xmlns:a="http://schemas.openxmlformats.org/drawingml/2006/main">
            <a:r>
              <a:t>발표에서는 파일명을 모두 외우기보다 Service, Policy, Storage, Device 경계를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README.md NFC 등록 모드, docs/08-hardware-bringup-session.md, tests/test_nfc_registration.py.</a:t>
            </a:r>
          </a:p>
          <a:p xmlns:a="http://schemas.openxmlformats.org/drawingml/2006/main">
            <a:r>
              <a:t>실장비 연결이 불안정할 때도 UID 직접 입력으로 등록 흐름을 시연할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reports/sw-evidence-summary.md.</a:t>
            </a:r>
          </a:p>
          <a:p xmlns:a="http://schemas.openxmlformats.org/drawingml/2006/main">
            <a:r>
              <a:t>수치: 10 cases, 10 pass, 7 generated transactions, 4 approved, 3 rejected, 1 print failure isolated, 7 audit hashes.</a:t>
            </a:r>
          </a:p>
          <a:p xmlns:a="http://schemas.openxmlformats.org/drawingml/2006/main">
            <a:r>
              <a:t>이 슬라이드는 물리 장치 성능이 아니라 SW 로직과 실패 격리 증거임을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docs/07-competition-readiness.md, docs/08-hardware-bringup-session.md, docs/09-one-hour-pi-bringup.md.</a:t>
            </a:r>
          </a:p>
          <a:p xmlns:a="http://schemas.openxmlformats.org/drawingml/2006/main">
            <a:r>
              <a:t>심사에서 신뢰를 얻으려면 미측정 물리 성능을 숨기지 말고 다음 검증 계획으로 분리한다.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README.md 문제 정의와 시스템 구조, reports/sw-evidence-summary.md.</a:t>
            </a:r>
          </a:p>
          <a:p xmlns:a="http://schemas.openxmlformats.org/drawingml/2006/main">
            <a:r>
              <a:t>차별성은 하드웨어 목록보다 '업무 루프'와 '감사 가능한 기록'에 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docs/03-test-plan.md, docs/07-competition-readiness.md.</a:t>
            </a:r>
          </a:p>
          <a:p xmlns:a="http://schemas.openxmlformats.org/drawingml/2006/main">
            <a:r>
              <a:t>시장성은 과도한 매출 예측보다 현장 적용처와 확장 로드맵 중심으로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가이드 PDF 일정/업무분장 필수 항목, docs/08-hardware-bringup-session.md, docs/09-one-hour-pi-bringup.md.</a:t>
            </a:r>
          </a:p>
          <a:p xmlns:a="http://schemas.openxmlformats.org/drawingml/2006/main">
            <a:r>
              <a:t>이 장은 실제 팀원 이름이 확보되면 바로 교체한다. 지금은 역할 기준 분장으로 작성했다.</a:t>
            </a:r>
          </a:p>
          <a:p xmlns:a="http://schemas.openxmlformats.org/drawingml/2006/main">
            <a:r>
              <a:t>제출 직전에는 반드시 PDF로 변환해야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1f063354f4f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91a70da39f442b" /><Relationship Type="http://schemas.openxmlformats.org/officeDocument/2006/relationships/slideLayout" Target="/ppt/slideLayouts/slideLayout1.xml" Id="Rbb6839ce1ef64c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6839ce1ef64c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894996b394836" /><Relationship Type="http://schemas.openxmlformats.org/officeDocument/2006/relationships/image" Target="/ppt/media/image.png" Id="R65c3f841320e4d75" /><Relationship Type="http://schemas.openxmlformats.org/officeDocument/2006/relationships/notesSlide" Target="/ppt/notesSlides/notesSlide1.xml" Id="R83fc00a7142b48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ef79a71744fed" /><Relationship Type="http://schemas.openxmlformats.org/officeDocument/2006/relationships/notesSlide" Target="/ppt/notesSlides/notesSlide2.xml" Id="R987efad6d0984c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95f3792804304" /><Relationship Type="http://schemas.openxmlformats.org/officeDocument/2006/relationships/notesSlide" Target="/ppt/notesSlides/notesSlide3.xml" Id="R9bcc9811f80740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018b74efa4d57" /><Relationship Type="http://schemas.openxmlformats.org/officeDocument/2006/relationships/notesSlide" Target="/ppt/notesSlides/notesSlide4.xml" Id="R098aa72f9fd24e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1336be7c84699" /><Relationship Type="http://schemas.openxmlformats.org/officeDocument/2006/relationships/notesSlide" Target="/ppt/notesSlides/notesSlide5.xml" Id="R4fb6a91befaa47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992abb3bd4914" /><Relationship Type="http://schemas.openxmlformats.org/officeDocument/2006/relationships/notesSlide" Target="/ppt/notesSlides/notesSlide6.xml" Id="R375285f0841b48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1fa6f9a7246c1" /><Relationship Type="http://schemas.openxmlformats.org/officeDocument/2006/relationships/image" Target="/ppt/media/image2.png" Id="Rd7e5196109034d2c" /><Relationship Type="http://schemas.openxmlformats.org/officeDocument/2006/relationships/notesSlide" Target="/ppt/notesSlides/notesSlide7.xml" Id="R3159af4f5d3446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20aa615464757" /><Relationship Type="http://schemas.openxmlformats.org/officeDocument/2006/relationships/notesSlide" Target="/ppt/notesSlides/notesSlide8.xml" Id="R5b8c9674322e43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30f9c75ce416a" /><Relationship Type="http://schemas.openxmlformats.org/officeDocument/2006/relationships/image" Target="/ppt/media/image3.png" Id="R1780340d395240e9" /><Relationship Type="http://schemas.openxmlformats.org/officeDocument/2006/relationships/notesSlide" Target="/ppt/notesSlides/notesSlide9.xml" Id="Rec80aed2df3f49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d7cdb8aaf4af6" /><Relationship Type="http://schemas.openxmlformats.org/officeDocument/2006/relationships/notesSlide" Target="/ppt/notesSlides/notesSlide10.xml" Id="R08a712e8564345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b6e6f3d214a54" /><Relationship Type="http://schemas.openxmlformats.org/officeDocument/2006/relationships/image" Target="/ppt/media/image4.png" Id="R3d1ae398d265446c" /><Relationship Type="http://schemas.openxmlformats.org/officeDocument/2006/relationships/notesSlide" Target="/ppt/notesSlides/notesSlide11.xml" Id="R5c010ca520244b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848901f234a06" /><Relationship Type="http://schemas.openxmlformats.org/officeDocument/2006/relationships/image" Target="/ppt/media/image5.png" Id="R2ec3aebfc80a4c2a" /><Relationship Type="http://schemas.openxmlformats.org/officeDocument/2006/relationships/chart" Target="/ppt/slides/charts/chart1.xml" Id="R955c85b50ec34f2e" /><Relationship Type="http://schemas.openxmlformats.org/officeDocument/2006/relationships/notesSlide" Target="/ppt/notesSlides/notesSlide12.xml" Id="Rdb2b271605dc4c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811f9cc1145ab" /><Relationship Type="http://schemas.openxmlformats.org/officeDocument/2006/relationships/notesSlide" Target="/ppt/notesSlides/notesSlide13.xml" Id="Red826a54d24c48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fe30514694151" /><Relationship Type="http://schemas.openxmlformats.org/officeDocument/2006/relationships/notesSlide" Target="/ppt/notesSlides/notesSlide14.xml" Id="R92b17ba5230e41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72044059d4b5e" /><Relationship Type="http://schemas.openxmlformats.org/officeDocument/2006/relationships/notesSlide" Target="/ppt/notesSlides/notesSlide15.xml" Id="Rac68da7bba9c4f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027531d064818" /><Relationship Type="http://schemas.openxmlformats.org/officeDocument/2006/relationships/notesSlide" Target="/ppt/notesSlides/notesSlide16.xml" Id="Rc25fb85a66dc43b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Reason codes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7"/>
              <c:pt idx="0">
                <c:v>OK</c:v>
              </c:pt>
              <c:pt idx="1">
                <c:v>D001</c:v>
              </c:pt>
              <c:pt idx="2">
                <c:v>D002</c:v>
              </c:pt>
              <c:pt idx="3">
                <c:v>R001</c:v>
              </c:pt>
              <c:pt idx="4">
                <c:v>H001</c:v>
              </c:pt>
              <c:pt idx="5">
                <c:v>I001</c:v>
              </c:pt>
              <c:pt idx="6">
                <c:v>V001</c:v>
              </c:pt>
            </c:strLit>
          </c:cat>
          <c:val>
            <c:numLit>
              <c:formatCode>General</c:formatCode>
              <c:ptCount val="7"/>
              <c:pt idx="0">
                <c:v>4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A7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A75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E04F2-D746-4C7C-BF02-E411D78E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659C2-CEDB-4788-ACFF-0FE4DC58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제24회 임베디드SW경진대회 개발완료보고서 | 자유공모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8F51C-41FE-42D4-9B5E-DED5A5CB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096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2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ReliefCheck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1BDD9-951B-4CF8-BD2A-C04825F6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오프라인 우선 재난 대피소 구호물자 지급 단말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62254-65A8-4FC0-9DE2-41C47705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가구 카드와 물품 태그를 분리 인식하고, 정책 엔진과 SQLite 원장으로 중복 지급·재고 불일치·장치 장애를 현장에서 통제합니다.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ABB32-64ED-4272-B45B-66D3CDB6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1562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82E92-B436-4D8A-B07F-1194B0AF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F7221-EC27-43FC-B8FC-382AC014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rPr>
              <a:t>10/10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88573-DB6E-45AC-B675-BA4F5B12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SW Evidence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C9B9E-00D4-4FC5-91B6-3FC69CE9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67200"/>
            <a:ext cx="1562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E870F-14F7-4C0D-95D4-65DF22F1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6720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5A169-EA06-457F-9704-72741659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577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F8CD5-61C6-41A0-98E8-A7678E55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958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거래 감사 해시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8A49C-94FF-4622-B09D-1DB5D18E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1562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26BF9-F48D-4214-8548-C151A4EF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5A45F-E3D9-4210-85FD-2CDE775E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E4B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6E4BD8"/>
                </a:solidFill>
                <a:latin typeface="Noto Sans CJK KR"/>
                <a:ea typeface="Noto Sans CJK KR"/>
                <a:cs typeface="Noto Sans CJK KR"/>
              </a:rPr>
              <a:t>4종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45229-0ECF-4395-B9D5-908AE615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958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장치 어댑터 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4590D-E924-439C-B5C7-0775079A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85800"/>
            <a:ext cx="52578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3f841320e4d75"/>
          <a:srcRect xmlns:a="http://schemas.openxmlformats.org/drawingml/2006/main" l="4861" t="0" r="48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838200"/>
            <a:ext cx="4953000" cy="37338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731F6-6F34-4676-958A-A0AC17DA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CarpeDM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10E63-72DB-4581-8FD9-C183D2E4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43600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Source: github.com/sdg331/CarpeDM_EswContest</a:t>
            </a:r>
          </a:p>
        </p:txBody>
      </p:sp>
    </p:spTree>
    <p:extLst>
      <p:ext uri="{BB962C8B-B14F-4D97-AF65-F5344CB8AC3E}">
        <p14:creationId xmlns:p14="http://schemas.microsoft.com/office/powerpoint/2010/main" val="1187824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5E7194-3783-49BB-8347-5ABEEC04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00. 제출 형식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30085-EF62-4413-AD73-B996473C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가이드 요구사항을 제출 구조로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922B8-4D30-4717-B160-43DC925C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31BC3-E04B-434F-A91F-F6D68A24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62034-F8B3-4C38-9F01-EDA51369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개발완료보고서는 필수 항목을 모두 포함하되 20p 이내로 구성해야 하므로, 본 PPT는 표지 포함 16장으로 압축했습니다.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5A01E-5817-4697-BE82-6FC9D210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742DF-1089-4D02-8AD2-3490A19F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431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가이드 필수 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4DB74-D309-468A-B47F-A17EC64B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3050D-9E39-4C6E-BBC4-0E519FE1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43125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본 PPT 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F7FDC-7517-47A6-8B60-ADE60D58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6450"/>
            <a:ext cx="571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F8FD7-9F29-45CB-9023-B2958AF2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43125"/>
            <a:ext cx="554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핵심 증거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56F73-F453-4183-9D65-41B7925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52378-7A8A-4D71-BC57-3FC9DD58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384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개발 개요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C0959-169D-463E-B891-0B574709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EEEEB-5F95-4EA3-8B22-74A4E573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38425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03-04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05993-8428-431A-95B6-5E132035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571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02EA2-157C-497D-AED5-0F5D4DD8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38425"/>
            <a:ext cx="554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현장 문제, 목표, 성공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87673-22BF-4018-B347-EB01CE84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670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31264-EBBA-4F56-B791-B6968532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337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개발 환경 설명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E3CD7-A774-4B80-ABA8-9DDBD81C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3A403-3DAC-421C-B658-42656A1E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33725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05-06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6EBD8-1D2A-4C00-A9E4-03EAF3B9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571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6154FC-9737-4C52-969F-0C8E030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33725"/>
            <a:ext cx="554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HW 구성, Raspberry Pi, SW 아키텍처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FBF91-04E2-4BF7-8D90-B4AD6FB8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6C2EC-E3D0-4D32-9DD0-6D28D511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290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프로그램 설명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6886F-3CDA-40B2-99DC-84D474DA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623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9879F-E140-4402-8A08-2D4BE9F3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29025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07-11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A8D464-A024-4C70-B468-8C32C0CC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62350"/>
            <a:ext cx="571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8442C-D30D-4B3C-A75B-CF34B1C8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29025"/>
            <a:ext cx="554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흐름도, 정책 코드, 파일 구성, NFC 등록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B7D6A6-C678-4DA0-B47A-83F0EECE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EFCF66-213A-4924-8736-DC57A08A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243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장애요인과 해결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4BAAE9-A5A1-4E6F-A17C-3D9DB71F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576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C13DE-6369-42FF-BF36-F2E23BB9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124325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6E8C9B-E2FA-46E5-876F-45BD8935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57650"/>
            <a:ext cx="571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06E632-5504-4D61-B52F-F4E50643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124325"/>
            <a:ext cx="554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실장비 미연동, 프린터 장애, 네트워크 단절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D0556C-B72F-4CCC-B3EF-E21DDAAD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DFD487-E738-427B-B276-6643DD5A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196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차별성·파급력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C403B3-3A8E-4D41-B80B-45FACEC0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529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B6704E-C16D-461C-A6F3-E0E87F45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619625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14-15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5D3433-1BCB-45E8-95D3-24DE167B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52950"/>
            <a:ext cx="571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C1B6D2-41CB-42CF-9B5C-D879EB41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619625"/>
            <a:ext cx="554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듀얼 NFC, 오프라인 원장, 현장 확장성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CBB6FA-9D52-4EC6-AC0B-7E361CAB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2C2D2A-CF9D-411F-9D30-348D10A5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14925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일정·업무 분장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7E8FD8-1B65-4EEA-A61C-0EEE645E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482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FCCAE2-A590-4AF0-8302-9CC08DDA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114925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D6512F-360B-424C-97FA-BB2C1120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48250"/>
            <a:ext cx="571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3B6235-AE87-4CFF-B89C-25D787CA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114925"/>
            <a:ext cx="554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개발 단계와 역할 분담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962BE4-B307-4C43-9ED1-0A3AC09D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90650"/>
            <a:ext cx="2838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AD1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301644-D68E-46EA-9FA2-06E28D0F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81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Source code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EABDE7-A0EC-4432-8E28-21E2CBA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050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C2430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C2430"/>
                </a:solidFill>
                <a:latin typeface="Menlo"/>
                <a:ea typeface="Menlo"/>
                <a:cs typeface="Menlo"/>
              </a:rPr>
              <a:t>https://github.com/sdg331/</a:t>
            </a:r>
          </a:p>
          <a:p xmlns:a="http://schemas.openxmlformats.org/drawingml/2006/main">
            <a:pPr algn="l">
              <a:defRPr sz="825" b="0">
                <a:solidFill>
                  <a:srgbClr val="1C2430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C2430"/>
                </a:solidFill>
                <a:latin typeface="Menlo"/>
                <a:ea typeface="Menlo"/>
                <a:cs typeface="Menlo"/>
              </a:rPr>
              <a:t>CarpeDM_EswContest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CD27CB-A6CC-4010-A56E-FE62B952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838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F1C76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E88019-9E25-41DE-B2BB-DC4A145F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95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rPr>
              <a:t>Video link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669599-FF04-4DEE-AE19-06698A03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촬영 후 YouTube URL 삽입 필요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8E1ABD-5A20-41E0-82CD-08371FF4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323472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D44C9-D64B-4884-9EF0-23121A65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01. 개발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59B92-E839-4E45-97F6-AA6C0B9E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문제 정의: 지급 기록의 신뢰성이 무너지는 순간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646F3-AE04-40D2-9092-BD84C434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4FE80-4428-4463-A40D-36BB5028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4DA81-1950-4D5B-8A23-1FBECA96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1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대피소 지급 업무는 빠르지만, 잘못된 1건이 곧 불공정·재고 누락·민원으로 이어집니다.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F4D47-A3BF-4A98-B551-DF386CC2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533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B4C6A-9BE3-4320-ABBA-7F0F9D5D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B42318"/>
                </a:solidFill>
                <a:latin typeface="Noto Sans CJK KR"/>
                <a:ea typeface="Noto Sans CJK KR"/>
                <a:cs typeface="Noto Sans CJK KR"/>
              </a:rPr>
              <a:t>중복 지급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3EE88-C558-4E52-B385-C3389CC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같은 가구가 같은 물품을 반복 수령해 제한 물자가 불균형하게 배분됨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581C1-6B3B-4A48-82E9-E7686851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533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1056F-E252-4914-A678-0418E955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rPr>
              <a:t>재고 불일치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058F5-B47C-431E-BFCC-3CC1643B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수기 체크와 실제 지급량이 어긋나 다음 지급 판단이 불안정해짐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6E1F6-6F30-4422-89C5-3B6D99B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533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8AAE5-7881-4990-92A0-F4542CC9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4B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6E4BD8"/>
                </a:solidFill>
                <a:latin typeface="Noto Sans CJK KR"/>
                <a:ea typeface="Noto Sans CJK KR"/>
                <a:cs typeface="Noto Sans CJK KR"/>
              </a:rPr>
              <a:t>기준 설명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7CD4B-921F-4357-874E-C7AF78F1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담당자 교대 후 왜 승인·거절했는지 기록으로 설명하기 어려움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4B39A-F9E0-4E5E-9D0E-4CEC5D35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533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56BA5-6CD3-40BE-9D56-3E503E9E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장치 장애 전파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86201-9AD1-4817-AC21-75AA042F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프린터·네트워크·카메라 장애가 거래 기록 자체를 흔들 수 있음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DE852-1A1C-4612-8644-F9B10829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1201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1597D-7E41-4E58-AB21-CF458A7E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ReliefCheck는 더 많이 나눠주는 시스템이 아니라, 제한된 물자를 공정하게 지급하고 사후 설명 가능한 기록으로 남기는 시스템입니다.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68CAC-5254-4926-A4A1-FCEE382F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899875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41D93F-E238-4DFF-BEE7-79F39BEA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01. 개발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4693D-BA09-4578-BF65-669E792C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개발 목표: 실장비 전에도 검증 가능한 임베디드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38E63-DF62-44EB-840C-ACEDBB84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AA295-1275-4872-B5B3-6D5D760D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F60B7-4AAB-4607-9543-0DC6EFDB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671763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1B55F-D789-48BD-A6F4-1E217AC9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CF184-99A4-4611-B9E2-D9A1CD74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공정 지급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BE247-5C13-40C0-B0FA-7242BFE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40506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가구 상태, 물품 상태, 재고, 지급 한도를 한 번의 정책 판정으로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9D86A-C8C6-4951-90FE-0DCAA058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2295525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C3F11-72DB-40CC-9D84-F431542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13" y="1619250"/>
            <a:ext cx="2671763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B1EB6-C73C-4182-AA5D-0F0B3534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17335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F1937-A2BE-4A03-9593-2A4E58E8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20193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오프라인 운영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DD116-88B4-47CA-8D4C-F5424676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2457450"/>
            <a:ext cx="240506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네트워크 없이 Raspberry Pi 내부 웹/API/SQLite로 핵심 업무 지속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B5B26-8DC6-498A-9B21-61DF2CE2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95525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9F656-38A4-4135-A69C-64FE7CBB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19250"/>
            <a:ext cx="2671763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AA3CC-6486-47A0-9DE8-FBFEC41D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335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4B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6E4BD8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A12E9-850A-400C-8207-9D3E9A0C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193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설명 가능한 거절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E0445-E70D-4866-96DE-52BE82FF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57450"/>
            <a:ext cx="240506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D001, D002, R001, V001 등 코드와 체크리스트를 거래에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4E690-275B-4D04-B178-0822D90E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2295525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19C4C-F44E-4390-8D06-887C2D8C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619250"/>
            <a:ext cx="2671763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2EAACA-F598-4DF6-9A50-8DE16184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17335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495A6-6387-45E2-8C51-1083D46F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0193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장애 격리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0DF48-E5E7-4D6E-9E0C-6914D8F4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457450"/>
            <a:ext cx="2405063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DB commit과 프린터 출력을 분리해 출력 실패가 중복 지급으로 번지지 않게 설계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79DC8-53AF-4DE7-AC1A-2943679C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3467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A4D6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DA0087-CE24-439D-84B4-25150986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rPr>
              <a:t>현재 검증선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AE4020-EB52-4D37-BCCE-F7EE3D5E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정책·거래·장애 격리 로직은 자동 테스트와 SW Evidence Suite로 재현 가능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A72F50-4E6A-4320-909B-7B1C4A02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3467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F1C7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A60ADD-6EA5-41FC-92E3-AF8103BD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rPr>
              <a:t>남은 검증선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660AB-32C6-41E6-8AE3-765D375A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196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NFC 반복 인식률, 프린터 연속 출력, 카메라 인식률은 실제 Pi 연결 후 수치화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D19000-A59C-4B05-832C-C42A33E9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3467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AD1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2F64B1-BD99-4FAB-A69B-6F05D2C3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5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제출 전략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BDF3B8-CBF1-4386-BE99-9EB6D20D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96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물리 성능을 과장하지 않고, 소프트웨어 완성도와 장애 대응 체계를 먼저 증명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279B52-69AF-4075-A906-1A58DBC1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1428942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CF4B44-6426-4E3B-A2E6-6A91CD94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02. 개발 환경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C2EC5-3E24-4D23-986F-60E4E8F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개발 환경: Raspberry Pi 단말을 기준으로 장치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5E253-1165-4D1C-8E79-362496CE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1465C-A8EC-4B5D-A9C4-1BC4E93C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D099E-11EA-4CDE-A007-4CBCC0DB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45148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4419C-D9D8-4F09-8213-664165DB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1차 키오스크 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BB3CB-C919-4B02-8E30-BE0E8C3A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647950"/>
            <a:ext cx="2247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769E5-C403-4285-BB21-EC267439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19550"/>
            <a:ext cx="2933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693A5-5586-4051-B299-2FA636B8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724400"/>
            <a:ext cx="3276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B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29F31-EABB-42A8-B5E6-159B46E2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076450"/>
            <a:ext cx="16383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9525">
            <a:solidFill>
              <a:srgbClr val="2731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B58A8-AFB8-42AC-A5E9-5094FEFD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2410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10.1 inch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Touch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C2834-6AB0-4199-8328-FFC8BA33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91000"/>
            <a:ext cx="971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74DEA-C906-4B2D-8D2B-5E07F6E7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91000"/>
            <a:ext cx="971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E046F-1657-4DE6-A0E3-22C37B53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가구</a:t>
            </a:r>
          </a:p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NFC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FE59A-B807-40F6-B572-4B9B4286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물품</a:t>
            </a:r>
          </a:p>
          <a:p xmlns:a="http://schemas.openxmlformats.org/drawingml/2006/main">
            <a:pPr algn="ctr">
              <a:def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NFC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D041F-9AF7-48E1-8441-06A237F4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524250"/>
            <a:ext cx="133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BBD85-70C5-4371-9645-CE7C29C9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385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rPr>
              <a:t>80mm printer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5025F-1AC7-475D-91D9-E650EC5C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573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B6FF5-1D2B-463D-8E85-ADE5E9B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57350"/>
            <a:ext cx="647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62D29-BFCE-41D0-A481-2017C779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714500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6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Camera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69637-764D-423D-A5BC-8B3C55F7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footprint 460 x 340 mm</a:t>
            </a:r>
          </a:p>
          <a:p xmlns:a="http://schemas.openxmlformats.org/drawingml/2006/main">
            <a:pPr algn="l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envelope 460 x 422 x 497 mm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5EDC0A-E05E-4D0E-A044-BB2176A7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6210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4B983-E9D9-4926-B2F4-984060E0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2877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구성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AC0F6E-4B20-4B09-B68E-30FF41CC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621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094F1B-3F29-457A-982E-6246E9B0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6287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역할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18F2F5-0D2D-4FBD-9D9E-8945BA30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BB18EC-8EF6-48C1-A429-67BDA79F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2877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현재 SW 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F5F37-6F17-440E-8CA0-6A9CD032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5740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70AC1-99A6-44F5-8A5A-4CB53F81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2407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Raspberry 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ADBB9F-9897-4B66-9A99-ED83DB58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C0620E-3C8B-4DF0-BE01-E3E8C75F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1240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로컬 서버·SQLite 원장 실행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4FA38-1FFF-4B27-9AF4-2FF01D2C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574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665337-2B61-46F6-BEED-800C7B89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2407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구동 절차 문서화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8FE1F9-D54D-422E-BDEA-B5A9C675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5270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D48F9E-AE24-4067-965C-BAD7209F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왼쪽 NFC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36FBDE-B7E2-4894-BA02-782412B8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83F4C9-6DA2-4287-BBEE-AE5E6970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193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가구 카드 UID 인식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7CF295-AC66-40D6-A027-87028C2B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527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96019E-408B-4745-9286-0E4613C9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1937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ACR1252U/PCSC 어댑터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CF074E-7082-4827-A0CF-C825B4CF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4800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01598D-573C-43C0-BCCE-1A2016A2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1467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오른쪽 NFC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36A620-68B2-4EF8-B4A9-1A473575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480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3F29D3-9B3B-42CE-B73E-EFAF7004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146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물품 태그 UID 인식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3D4339-C83E-43D7-B42C-D5E4849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480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131AD3-2AC7-4980-9071-293F57C6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1467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역할 오인식 R001 차단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C5F146-18B5-4945-9FD5-786D89FC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4330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241EE6-0CD8-401C-A78E-66236CF7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0997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80mm 프린터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8557DD-2B82-46E3-97BD-BE5CA654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433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4D6105-220E-4950-A354-09D46D56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6099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지급확인증 출력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808CED-92C5-4BA5-8A87-FEBB0D35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B7462A-CC8E-4D29-AF96-EBB0B884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0997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screen/CUPS/ESC-POS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1AD88D-54E1-4E97-92CC-C17E375D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3860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C1DE8B-EFCD-48B6-AA0D-693370F1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0527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Camera Module 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413067-6D97-43E9-A6F6-27A2508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386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DDE1BA-B8D0-4C4F-8CF6-7118A52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1052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물품 시각 코드 검증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EC69DC-40FF-442A-95CC-A28239A4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386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A379FD-46FE-4E21-9F95-DA9F2BE1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10527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simulated/OpenCV QR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0F18C1-5C11-49D3-A32B-7F4D3568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33900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A1D86A-AAB4-41D6-A9F0-53CB59DA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0057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함체/3D 모델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92A757-1107-4E1B-A156-78093434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339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A43591-C05C-4D11-8D3D-E17BF479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600575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부품 상대 배치 설명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D28A3D-4DDA-4069-91C7-7BC2B44F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339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2C2B49-1FE0-43F3-B8D0-F93B4F49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0057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STL·SCAD·JSON 제공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FF3281-122E-484B-9742-60963994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19700"/>
            <a:ext cx="6305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F526FB-A61B-4034-AC23-39689B9D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91150"/>
            <a:ext cx="592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1차 모델 치수: footprint 460(W) x 340(D) mm / envelope 460(W) x 422(D) x 497(H) mm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680887-122F-4DCC-B729-F1B25511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1228434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FEE1B-3523-4B3C-82A3-DF429BA2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02. 개발 환경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FACBE-BA53-46D3-82F9-08EDD6CE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SW 구성: UI/API와 장치 어댑터를 분리한 오프라인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413D6-7E54-43AF-B3B6-E5CEE67E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8126A-6543-4E09-8E96-A5A055B9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E98F2-8C66-4212-82CE-935A845E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81343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18E9C-21E9-4EB4-B28F-F8F20404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Raspberry Pi 로컬 단말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B6BF1-BC56-423C-A5E2-BAAA38E4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95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B10E2-71C4-49D0-A524-A8F5AD57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Touch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8161F-A7E9-45CB-937E-AA1F59F3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1695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BCE98-1F35-4C9A-ADC5-21121BFD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28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HTTP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21D0D-B41B-44DA-AEA8-4F3A84A5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09800"/>
            <a:ext cx="1695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4D99B-8765-4D1C-A72C-4437667B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Distribution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8E1E1-2379-4602-B197-19EEE791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43300"/>
            <a:ext cx="1695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CC313-32B2-4FBF-9DDF-9D2C2E30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62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Policy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3D320-3B7B-4396-90B4-E4CD0F85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1695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1D83B-A017-4E76-844A-07699187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62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SQLite Ledger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FFF27-04C0-4BA3-854D-27D89BF1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1695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6B4F2-2E30-44F1-B43E-138C6DEF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Device Adapters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551A0-ABBC-40F1-B813-FEA34C69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81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57C11-407D-4B45-B6CD-57E36BC0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81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E5707F-29D4-4E07-AA9F-675D1B48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67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policy / commit /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94318-52F7-44A1-9FF7-3C2ACFE2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66850"/>
            <a:ext cx="2800350" cy="33909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477BD-12B4-4E64-A3A3-F7DEC31E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95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핵심 설계 원칙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4FF4C-B188-434A-85AD-299CD025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19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FD5D2-A35C-466C-8B79-1126161E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업무 로직 중심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E5AA7-011A-4438-9DD1-87DE6B40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98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Distribution Service가 스캔, 정책, DB, 출력 순서를 통제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69C8B9-141B-43A9-8D39-E00D3C0F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76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5E6AF5-1CAE-48D0-BD64-57B7C200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9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정책 엔진 독립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04C97-EBF7-4160-9BEF-C2D61BC1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670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지급 기준을 코드화해 UI나 장치 교체와 분리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A89775-E637-463A-828B-18689CC6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33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9190C5-58F6-4EF3-9478-292AC0A4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67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어댑터 방식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C2E6A7-B956-4739-8847-5CB42BDE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243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NFC·프린터·카메라를 manual/screen/simulated에서 실제 장치로 전환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EB9701-AE2E-442E-8963-A7CA71EB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201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476BFE-6983-4FCD-BD51-ACD75B09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Browser / Touch UI → ReliefCheck HTTP API → Distribution Service → Policy Engine + SQLite Ledger + Device Adapters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F4BF75-9619-48E4-AEBD-92301D3A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1524272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F225B1-FB40-454D-8DE1-F92A8561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03. 개발 프로그램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05330-99CE-49E2-BF93-B813EEA8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사용자 흐름: 한 화면에서 지급 루프가 끝난다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077CB-D8B9-422D-B8BC-0C74E5C3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FECC0-61BD-4BF6-A0A9-0A154D2B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5196109034d2c"/>
          <a:srcRect xmlns:a="http://schemas.openxmlformats.org/drawingml/2006/main" l="0" t="1751" r="0" b="1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466850"/>
            <a:ext cx="6381750" cy="419100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0D309-8E22-42E2-B2EF-DD050CAE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62100"/>
            <a:ext cx="995363" cy="1314450"/>
          </a:xfrm>
          <a:prstGeom xmlns:a="http://schemas.openxmlformats.org/drawingml/2006/main" prst="roundRect">
            <a:avLst>
              <a:gd name="adj" fmla="val 76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70F20-C7FA-4159-8DB6-46EFEB45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764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AE872-F63A-4584-BC74-19106506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728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가구 카드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52A74-6A35-4C2B-A82F-E35DEBD7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728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왼쪽 리더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DAF24-F844-4B35-BB3F-5C11B0EB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63" y="20574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379FD-7349-43F0-883D-79273E09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1562100"/>
            <a:ext cx="995363" cy="1314450"/>
          </a:xfrm>
          <a:prstGeom xmlns:a="http://schemas.openxmlformats.org/drawingml/2006/main" prst="roundRect">
            <a:avLst>
              <a:gd name="adj" fmla="val 76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A047D-CF64-4EBD-BB3A-EE1E265A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16764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9BFAD-1B90-4328-B6DA-BE9AAFA6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1962150"/>
            <a:ext cx="728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물품 태그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542DE-4F81-489D-A7FC-C65FBC3E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400300"/>
            <a:ext cx="728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오른쪽 리더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C48EE-54A5-4BA4-9FDB-BA702884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574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20E64-8EA8-419C-B637-009E6D39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62100"/>
            <a:ext cx="995363" cy="1314450"/>
          </a:xfrm>
          <a:prstGeom xmlns:a="http://schemas.openxmlformats.org/drawingml/2006/main" prst="roundRect">
            <a:avLst>
              <a:gd name="adj" fmla="val 76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715F8-7C0A-482B-B087-E100B710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764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4B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6E4BD8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65712-B5A4-4851-BC0E-7B5CFA76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962150"/>
            <a:ext cx="728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정책 판정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1489E-E36C-4F6D-B68C-3AA0E9CF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00300"/>
            <a:ext cx="728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한도·재고·상태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B62D4-C303-4AA8-BFAD-692C99A5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988" y="20574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D8DEE4"/>
                </a:solidFill>
                <a:latin typeface="Noto Sans CJK KR"/>
                <a:ea typeface="Noto Sans CJK KR"/>
                <a:cs typeface="Noto Sans CJK KR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845A8-D70C-4E21-9D7C-E291DDE7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338" y="1562100"/>
            <a:ext cx="995363" cy="1314450"/>
          </a:xfrm>
          <a:prstGeom xmlns:a="http://schemas.openxmlformats.org/drawingml/2006/main" prst="roundRect">
            <a:avLst>
              <a:gd name="adj" fmla="val 76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E98A5-39A5-4992-B8BA-9FD3D9EE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16764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7DB9C-A6D5-4B15-8FA9-5486F377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1962150"/>
            <a:ext cx="7286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원장 저장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2BCFD-C6C9-4282-9D92-1098CAAA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2400300"/>
            <a:ext cx="7286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SQLite 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EBBFB-EF69-4130-9A8C-83098BDC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4495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A4D6B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CCEA9-9DF7-447E-98A2-743D8655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671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rPr>
              <a:t>승인 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B251D-A8E3-456B-8621-D68283E1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2905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거래를 먼저 확정하고 지급확인증 출력 상태를 별도로 갱신합니다.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5742C-5A82-4255-A294-EC717E4F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48200"/>
            <a:ext cx="4495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EFADA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628238-6844-4750-B7F9-0ACF94B8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9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B42318"/>
                </a:solidFill>
                <a:latin typeface="Noto Sans CJK KR"/>
                <a:ea typeface="Noto Sans CJK KR"/>
                <a:cs typeface="Noto Sans CJK KR"/>
              </a:rPr>
              <a:t>거절 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C9AD3B-6004-4B7F-A7CF-4BD8B32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6255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거절 코드와 체크리스트를 남겨 담당자 교대 후에도 판단 근거를 복원합니다.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9B61C5-2517-4E35-8500-770880F0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308265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1481B7-493A-492A-B351-8D6AEFD0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03. 개발 프로그램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51500-E122-4C71-B466-80814B95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정책 엔진: 승인보다 거절 사유가 더 중요하다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18452-F181-43EF-94C2-41C5D508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F091A-1C72-4808-B201-C4C69D33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258AE-802F-4636-949B-90C494B8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현장 시스템은 '안 됩니다'를 설명할 수 있어야 합니다. ReliefCheck는 모든 판정을 코드와 체크리스트로 남깁니다.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68A75-AF33-4ACD-86FB-D4976C92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B640A-EF30-4631-A694-DBF648B6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050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코드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05CE5-4B80-4A21-BC69-8B65C23F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3835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5C695-540D-43B6-BF6A-61B454C8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10502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판정 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37303-E4C0-41CB-995D-6E7C97C6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611E4-8D80-4BB6-959A-90668ABB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05025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운영 의미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68437-F107-491F-ADF9-BAC8502B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460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91787-5B76-4DB7-9B25-8F0F3F63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812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98F48-F91E-4434-9F9A-0353531F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1460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01774-D847-48D8-BA78-13A7AF46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58127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가구·물품·재고·카메라 기준 통과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7823A-7F4C-4648-BF5D-1840E46C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483D5-0088-4F4F-AEF4-6E79C183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81275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지급 승인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B02CD-2F10-4DA4-8893-AA617A1D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06172-0670-45A6-846D-BC6A776D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575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D001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4DDD-06C9-4199-8ACD-A450ADE1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9085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3E93E-FC0C-4BD5-9BD2-11180645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05752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가구별 지급 한도 초과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8EDFD-50D9-4CC2-99EA-B7390C4D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C74A1-61CC-4771-8CB6-25774C50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57525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공정 배분 유지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4167C-150B-4453-BD9B-D52CFEEA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7D67D7-3BB6-45AE-B0EA-4878F920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337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D002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CAFFCB-255F-47F5-8A6A-D193B4EE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6710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3B4D0-E622-437F-A61F-D69B3043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53377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이미 지급 처리된 개별 물품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78DB4-947E-4DB6-AAAE-37B0AF40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538428-4C1C-4C43-BBDF-8A2AE9A1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33775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동일 물품 재처리 차단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42B28E-D76C-46E4-BC61-5975E9E1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BB55EC-A288-4AFA-916E-F14B8A84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100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R001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4EEB86-EB59-476B-B6C3-1DC64E54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4335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8D6024-B52B-4BA6-A1F6-C904811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01002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가구/물품 리더 역할 반대 입력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E972BA-4F63-4A24-A644-6CF547A9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CF1566-A67F-4D70-80EC-D656FC14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010025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현장 입력 실수 차단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434981-5A4A-44BA-8B8B-8C223DA2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AA6E99-D8E7-4748-8662-CE8BEAD9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862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H001 / I001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6589D1-3B9E-4BBF-AB21-E809D7F3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1960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63294B-6882-4FF4-8551-F156D9C5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48627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미등록 가구 또는 물품 UID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74EF33-6371-4B8C-B830-150EDD4A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156626-118D-45DF-8F79-9D27684F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486275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등록되지 않은 태그 차단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788EBF-6F7A-4925-A8B1-6768D766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9585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09276F-F8B0-4828-8F83-7690CB50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6252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V001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4CD408-15A5-4EE9-9792-C757BB24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9585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AD23A7-9E5D-40D2-8DEC-A6ACB3BD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96252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NFC 정보와 카메라 검증 불일치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4E9088-15B3-4B15-BC29-4046E120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95850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2ED33D-2C69-475F-8EB2-E3BBD001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962525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태그-실물 불일치 차단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5EA91B-8A90-4C78-B1F8-B57FED92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210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6DEF4B-550E-4DAF-8F44-1C2B909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387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P001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39AFB7-07AB-432E-9CF5-6D08AB47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72100"/>
            <a:ext cx="4514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A8BE9D-7879-4AC2-AB20-EA709590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43877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프린터 출력 실패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F73C45-F279-4F80-8E0E-28EB350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72100"/>
            <a:ext cx="4152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1DD2A2-5C08-4CDE-98FB-F1F34434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438775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거래와 출력 장애 분리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785226-EE2E-4E98-AAE6-E28A6CA0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39065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AD1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D4F478-CB25-42BA-AF20-BD802599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859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정책 버전</a:t>
            </a:r>
          </a:p>
          <a:p xmlns:a="http://schemas.openxmlformats.org/drawingml/2006/main">
            <a:pPr algn="ctr">
              <a:defRPr sz="975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POLICY-2026-09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3C3748-08E3-448E-B5F6-FE40998D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2043211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2A7E35-A399-4C50-977B-11AACDDE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03. 개발 프로그램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16BC2-2F8A-4B45-9F5D-8777DCB6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데이터 원장: 거래 확정과 출력 상태를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FEF1E-47BF-41F2-BC1A-D9E4EA44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5A88E-19D2-4177-954B-012FA166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0340d395240e9"/>
          <a:srcRect xmlns:a="http://schemas.openxmlformats.org/drawingml/2006/main" l="0" t="3750" r="0" b="3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466850"/>
            <a:ext cx="5810250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4A25C-6E3E-4DEF-A950-2B87857F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66850"/>
            <a:ext cx="1485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98345-96B1-477C-9F29-6AA0BAB1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6685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FA05F-B33D-4B71-A965-34562FC7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573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E1CC2-1876-4B4B-81B1-17BFB80E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누적 거래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B6358-0FF5-4BCF-9465-15E11210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1485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97B2A-9E2C-4F22-A67E-3BD27ADA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769E3-6D7E-4F59-9C2D-C917BC4A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573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51B90-2645-4108-8D11-C63A689B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승인 거래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E88BF-DB5B-48BD-AF7E-CC8B5C12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466850"/>
            <a:ext cx="1733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63776-1ACF-4091-916C-9A1FDC5F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466850"/>
            <a:ext cx="1733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81510-AC9D-4436-A3B9-7661A009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5735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2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B42318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4AC27-8E05-4048-93CB-049EB351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55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거절 거래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856B4-92AA-4636-8EFE-A7C5A13B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43200"/>
            <a:ext cx="5086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D28AA-AC38-486E-9FC5-F0F629C1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1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원장에 남기는 필드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9B888-6342-4F4E-99AA-F26BB82A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40251-0C7A-4670-BAE4-752E4E08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385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필드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91BB7-E63C-4B06-A4AD-5B6CAEA3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718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86369-3EEF-4051-857B-EA9FE0D4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목적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FAB23-1DCF-4B1E-9F66-8D9F72FB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C2813-8247-4042-AA03-40E82F5B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6237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transaction_id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E81DF-4846-476C-874C-81EEFA71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9570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B0ADF-AD43-4084-9424-5AB5CC20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7623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영수증·감사 로그 추적 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C7B98F-9887-4316-A2CB-E9C16F1E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D1475D-9281-40FB-80B6-7DFFA0C6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0862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policy_version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0F32A-C047-4116-A785-13B1BAC6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195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CBA5AA-22E6-4F02-89A9-DD05BA7D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0862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적용된 지급 기준 복원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B7DCD0-7403-4663-B90B-0C024112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34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677288-7B89-4FED-A385-0C54DB29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41007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checks/context_json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06E0A2-3792-482B-8F0A-2201D08F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340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D20E38-FEC7-43D4-89B3-795698EA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4100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판정 체크리스트와 입력값 보존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561A82-60E6-4760-A36B-8E510E96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67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4E933E-1277-4FE0-ADAE-F70E7F9F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7339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print_status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B25CC0-4200-48ED-B3D0-9D6AD6BF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672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1E2272-61B6-4AB2-809B-6A578F77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339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PRINTED/FAILED/NOT_REQUIRED 분리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F6D67C-1202-49EB-9C04-6271D67F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911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CD37E5-2878-4B0C-876A-187895FB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05777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audit_hash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79F6F3-C576-4A34-9C3B-AEE83129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9110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0CDE05-D1A0-4015-B06A-65727D47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0577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거래 무결성 검토용 해시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A69055-CCDC-4732-B1B8-208462F9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11201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1F5701-D135-4844-8FCB-5B8B2EC9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78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프린터가 실패해도 승인 거래는 이미 원장에 남아 같은 물품이 다시 지급되는 흐름을 줄입니다.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19E460-80C5-4D1C-B8C3-C4BBD8B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472629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D4FE83-F103-428C-BB11-B2BA8009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03. 개발 프로그램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122BA-C915-43AA-BDE7-4799BB24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프로그램 구성: 제출자가 설명 가능한 파일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C7EFE-9F15-4AF9-AF47-0E4A28D4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BB36D-38B0-4C57-85DF-472249DE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D64D0-6031-4639-A66B-F9C4185E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B6415-F37D-440A-8C67-ADA6100B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52575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영역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0B3B0-AF02-46E5-ADD6-9CEFE3F8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4859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336D0-341B-40FE-88EF-9605F04D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55257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주요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82C4A-5610-4295-A9FB-460547FF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485900"/>
            <a:ext cx="535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F3E32-A368-4965-8833-C87A85D5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55257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B3E0F-E220-4F85-B790-5D7DD6FD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CD1B7-D082-4ECD-803B-56763A7B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05025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로컬 서버/API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7AD39-2F72-4214-AF4A-4720538E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38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F1493-9AEF-49AC-80E9-B2750792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0502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reliefcheck/main.py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8BF7A-8BA6-4A71-A2BF-87C7BA31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38350"/>
            <a:ext cx="535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7DE7F-F345-4A22-9CD9-98FCAB83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0502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HTTP 라우팅, health, scan, reset, register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05BDF-0D54-4667-87E9-D797DD3D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44CC7-E9F2-41F9-B3A1-D54A96D7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57475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업무 흐름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ADCCB-783F-4672-99BA-0C0B445A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908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ECCFC-75FE-4F2D-AA13-C9F44E87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5747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services/distribution.py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044EC-BACC-4338-8C2B-A278DD67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90800"/>
            <a:ext cx="535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175F6-E21E-4E02-817B-F76A669C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5747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NFC 입력부터 정책 판정, DB 저장, 출력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B1400-322C-4189-ABAD-80BAC181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D0180-6F8D-49D2-982B-9052FFF6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09925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정책 판정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C5C0A-8043-428A-9E40-617F197C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432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C328E8-6899-4726-8B8B-81FA3C7B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0992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policy/rule_engine.py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8C92F-2F45-479A-9578-5EF6FE4D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43250"/>
            <a:ext cx="535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0EA4C5-E196-4E58-900B-AE5AC75A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0992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한도, 중복, 재고, 카메라 불일치 판정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2CE74-B1F7-4219-AF6D-2836086C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52E256-6536-4265-A5FF-7FBE841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62375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저장소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FC25FF-81A1-460B-9368-22E5B6C3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957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156E7F-C419-47AF-9025-74031448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76237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storage/database.py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9D9FA9-ECFF-4DDC-951E-0F1A7A82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95700"/>
            <a:ext cx="535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D7FFE6-763A-4A18-A613-15A2A76F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76237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SQLite 스키마, seed, 거래/재고 조회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EEEA3B-9EC1-4237-8097-F4D34DF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521574-A300-4B89-8E37-7F235641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14825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운영 화면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5E4621-9AF8-4A50-B6C1-97D67006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481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C79C88-37B6-4EDA-8388-1B13F000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1482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ui/index.html, app.js, styles.css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8A2881-9DFD-46F4-B354-AA4CF160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48150"/>
            <a:ext cx="535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E802D7-6B55-4EDB-A789-5BEAAE54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31482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키오스크 UI, 대시보드, 등록 모드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7EA822-00AE-4670-B7EE-B21A78B1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006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377AC4-F337-4A83-9CE7-EC00E8FE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67275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장치 어댑터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17D202-4065-44E3-A51E-486BAFCD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006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657EAE-1626-4346-8742-AA0D9FEB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86727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devices/*, vision/*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A4D881-7657-4DB2-9BD2-ABBF8FEA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00600"/>
            <a:ext cx="535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39A832-E0DC-455B-AB56-090FE036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86727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NFC, 프린터, 카메라 실제/모의 모드 분리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265FEA-624E-4DEC-8973-0AE4B0DF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CC8D38-55D5-460B-B29B-57BDECA5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19725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검증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5D3A8D-15A6-45EC-B8E3-69CDA755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530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43D2B9-6D5F-4437-A91E-ABA55FA5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19725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11318"/>
                </a:solidFill>
                <a:latin typeface="Menlo"/>
                <a:ea typeface="Menlo"/>
                <a:cs typeface="Menlo"/>
              </a:rPr>
              <a:t>tests/*, scripts/run_sw_evidence_suite.py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2A4327-1EDA-48C9-B04D-9D7DDE13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53050"/>
            <a:ext cx="535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28118A-64C2-4700-8C8E-7C07DD96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41972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정책·장애·보안 검증 자동화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8AE29E-52A5-4FAB-BE76-84996E6C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11201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AD1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67B17B-4061-450D-9CB1-995FAB4C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69E0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1769E0"/>
                </a:solidFill>
                <a:latin typeface="Menlo"/>
                <a:ea typeface="Menlo"/>
                <a:cs typeface="Menlo"/>
              </a:rPr>
              <a:t>핵심 함수 흐름: scan input → create distribution session → evaluate policy → commit ledger → update print status → render ops snapshot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ED33C9-307A-4E08-944A-83A554BF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13905757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4F802-59E1-4231-BDFE-79271669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03. 개발 프로그램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CD2C1-0D5C-4E86-ABF6-0C5127D4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NFC 등록과 장치 어댑터: 실장비 전환을 위한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934C6-36BA-4E1B-A10F-3658773F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2EDCF-9DD4-4F27-AE3C-D840EA7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ae398d265446c"/>
          <a:srcRect xmlns:a="http://schemas.openxmlformats.org/drawingml/2006/main" l="1033" t="0" r="1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466850"/>
            <a:ext cx="5619750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BEE06-806A-4EAF-A464-D188D9E4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66850"/>
            <a:ext cx="52197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586BC-1D72-4559-A51B-FE186257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등록 모드가 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99F81-4F90-47A3-B5DB-837EBB08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19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60148-0C12-4617-8BBA-755F98E4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526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샘플 UID와 실제 UID 차이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34394-ADA2-4D6E-96A8-B9C348DF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9825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실제 카드·태그의 UID를 기존 가구/물품 데이터에 매핑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D4D2D-F446-4DC5-A224-22B16DC9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38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73CE1-7579-4707-A890-F01A296B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7180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중복 UID 방지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1E018-01D7-4D35-B1A5-89CC55B1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28975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같은 UID를 다른 가구나 물품에 등록하려 하면 거절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949DD-9649-4A9E-BACB-68A9B4D9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C244D-BE82-4FCE-8DBD-6ECFF3CA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리더별 역할 고정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8B2CF-1136-463C-A813-CB65F25B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48125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왼쪽은 가구, 오른쪽은 물품으로 고정해 R001을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06349-4823-4D32-A7BD-5FA3079B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863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779EC-3926-4CBE-AED7-B1195F55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95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실제 Pi 전환 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5498B-2C12-40F0-81CF-9E05A4BF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C2430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C2430"/>
                </a:solidFill>
                <a:latin typeface="Menlo"/>
                <a:ea typeface="Menlo"/>
                <a:cs typeface="Menlo"/>
              </a:rPr>
              <a:t>RELIEFCHECK_NFC_MODE=acr1252u</a:t>
            </a:r>
          </a:p>
          <a:p xmlns:a="http://schemas.openxmlformats.org/drawingml/2006/main">
            <a:pPr algn="l">
              <a:defRPr sz="825" b="0">
                <a:solidFill>
                  <a:srgbClr val="1C2430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C2430"/>
                </a:solidFill>
                <a:latin typeface="Menlo"/>
                <a:ea typeface="Menlo"/>
                <a:cs typeface="Menlo"/>
              </a:rPr>
              <a:t>RELIEFCHECK_PRINTER=cups | escpos | screen</a:t>
            </a:r>
          </a:p>
          <a:p xmlns:a="http://schemas.openxmlformats.org/drawingml/2006/main">
            <a:pPr algn="l">
              <a:defRPr sz="825" b="0">
                <a:solidFill>
                  <a:srgbClr val="1C2430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1C2430"/>
                </a:solidFill>
                <a:latin typeface="Menlo"/>
                <a:ea typeface="Menlo"/>
                <a:cs typeface="Menlo"/>
              </a:rPr>
              <a:t>RELIEFCHECK_VISION_MODE=qr-camera | simulated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2A075-F5BB-450F-8CF4-FD4B9CD0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9685099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AB4FB7-83F5-47CD-9D5E-02FB3CCC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03. 개발 프로그램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F42BA-9EC2-4AA9-88AC-864FD53F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검증 결과: 실장비 전 SW 완성도를 숫자로 증명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85F98-0B65-4191-BBEC-154E91CD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BF7F1-BB0B-4F66-A28E-4FAF9337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3aebfc80a4c2a"/>
          <a:srcRect xmlns:a="http://schemas.openxmlformats.org/drawingml/2006/main" l="0" t="3361" r="0" b="3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466850"/>
            <a:ext cx="5581650" cy="3543300"/>
          </a:xfrm>
          <a:prstGeom xmlns:a="http://schemas.openxmlformats.org/drawingml/2006/main" prst="roundRect">
            <a:avLst>
              <a:gd name="adj" fmla="val 21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AD9F6-6107-427A-95F7-5E384EA3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66850"/>
            <a:ext cx="1219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AC942-8DEC-4508-AC64-8566721B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668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B867E-4708-4D11-A142-07F42FEC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5735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rPr>
              <a:t>10/10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5D328-6794-4316-B166-0AD31AC0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케이스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21A31-4F8B-4495-B5D3-FD0B17EB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1219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57184-6083-4867-80E1-11DCD5D6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46DAD-25AB-44BA-9603-4F3191EF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05A24-1C33-4340-A7AE-EDD1E98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생성 거래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2F72D-3D77-443D-8874-856C9C37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66850"/>
            <a:ext cx="1219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E1815-2CD0-4EDB-8617-A62DA1DC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668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70092-C74E-4CE9-8835-151470CC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5735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20EC7-FF35-46F1-AE6C-204F6F03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955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승인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6F788-A1CF-473A-97DE-BA0E52A0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466850"/>
            <a:ext cx="1104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499D5-2C8A-4B21-8F9C-1AEA57BD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4668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CB753-2BE5-4D5C-9DAB-C2AF5CD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657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B42318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A3B64-42E9-41D5-8A96-D01BCE66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거절</a:t>
            </a:r>
          </a:p>
        </p:txBody>
      </p:sp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6515100" y="2724150"/>
          <a:ext xmlns:a="http://schemas.openxmlformats.org/drawingml/2006/main" cx="49530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5c85b50ec34f2e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90721-8160-4E85-A601-0870A044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1201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A4D6B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BF66BD-732D-4D2D-9660-A60222E7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78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rPr>
              <a:t>출력 실패를 강제로 주입해도 승인 거래는 보존되고 print_status=FAILED로 분리됨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953DDA-40B8-4A4A-BE5E-ADD8B161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1057615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EEC821-8D19-4926-875B-0B915E2D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04. 장애요인과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09910-E201-41A4-86F0-4B7ABEF2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장애요인과 해결방안: 과장하지 않고 격리한다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AB3F6-350A-4B73-A653-1FF16374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27810-4664-4F09-B923-CEFC129B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7177E-6B85-4437-BE71-2CE1EE02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13BE2-9BE2-466B-BB23-E2467D23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90675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장애요인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E3246-1E11-4742-8C2D-DD93C1E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5240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0F095-B89C-4E81-A13A-5E10700C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59067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발생 위험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6622E-4915-4A4F-A496-04DAB119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4305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E49AF-3DE4-4ED1-AC80-8DBEB6EC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90675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해결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42DFE-952F-4CCD-A9D3-478B8BD5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36C3E-041E-41B2-B56F-388C6A75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76475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실장비 연결 지연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95C33-92CC-4A20-A5C7-C332AF40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098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856D2-07FB-4A00-9570-52D89C55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27647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물리 성능 수치를 아직 확정하기 어려움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A7AC4-82BF-4B91-8F67-055CFB1E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4305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D601F-A644-4AA3-B0EE-677DB851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76475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manual/screen/simulated 모드와 SW Evidence로 핵심 로직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C0819-F3FB-49AA-A652-457A159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58A53-16A2-4BAA-A791-5012FEB4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62275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NFC 리더 2대 혼동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ACF7D-BEAA-40A3-ADF7-D791FB55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956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0E0D9-F59D-455A-ADD1-869BC0D9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6227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가구 카드와 물품 태그 입력 위치가 바뀜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51295-3179-4EFA-B123-B1C6CFAA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4305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5BFCC-B153-4ED2-8293-5AF04887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62275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reader name을 .env에 고정하고 R001로 오인식 차단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28CA2-F098-4C3A-9622-C566AE3F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814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B7AEF-653C-4020-B723-F61B5D78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48075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프린터 출력 실패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CFCE2F-0F62-4C38-B74C-2B163A3D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814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381B26-CF39-4CCD-9EC6-414B8951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64807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지급 완료 후 확인증이 출력되지 않음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673257-6E01-4C51-AFB4-5ADB0F9B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4305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10D093-DBF3-4471-AB27-AC7DEDD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648075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DB commit 우선, print_status만 FAILED로 분리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D1AD26-64A0-45DA-ADFA-8D3F2CAF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2740A9-8DDA-48BF-940C-1D187015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33875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네트워크 불안정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6E1AF4-F631-42B3-B0E7-419E1D04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672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816A42-D783-4A66-8FA4-9AD87A0C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3387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외부 서버 접속 실패로 지급 중단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8122B7-2F2F-47B7-BBEB-811F5D6E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67200"/>
            <a:ext cx="4305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9D77C5-CEFD-4AD8-ABA4-A4E20E36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33875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Raspberry Pi 내부 HTTP 서버와 SQLite WAL로 로컬 운영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6B272C-4100-4CDB-8747-D307696A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44550E-A91C-4FDE-B30D-50D11796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19675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카메라 오인식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CDF6E9-D147-457E-B37F-DA32AB19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530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A4A3F2-79F8-43C6-BCC1-9B0522F2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019675"/>
            <a:ext cx="373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태그와 실제 물품이 다른데 통과될 위험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29B626-8E1B-4FB1-AC91-DE6698E1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3000"/>
            <a:ext cx="4305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CD2E3B-AE9E-4ECB-BF3A-945CD602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19675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QR 교차검증부터 적용하고 불일치 시 V001 차단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A02BFC-F881-4797-B25F-28EF4796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11201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F1C76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82F017-90C2-4E6F-BCB3-404AAFE4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rPr>
              <a:t>제출 문서에서는 측정하지 않은 반복 인식률·연속 출력률을 단정하지 않고, 결선 전 실측 항목으로 분리합니다.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B1B728-0185-4AC5-9B8D-5D47E085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8788952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814041-5221-46FA-9D74-ED46003B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05. 차별성 및 우수성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AF376-044E-407F-A28F-6394F7C0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차별성: 단순 재고 차감기가 아니라 현장 판정 단말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B364A-36A9-4F9F-8887-74F870F5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9F8CB-6119-4112-B087-083C9879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B37DC-D055-447D-A448-96CB1CAF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18066-2154-4293-AEC1-C5B0BA39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90675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비교 항목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C8D4C-EEDD-4FD6-B11B-EF3FDA75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52400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BF6EA-2CFE-4F68-8ADE-D193E64A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59067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일반 재고/체크 시스템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88375-5EF0-4B41-A9F1-60C2BE15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4210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4B138-93A7-4E6A-BEF5-1BD2D506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590675"/>
            <a:ext cx="4038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ReliefCheck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8A8D0-61A5-4BD8-8ABE-AD5CAA82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2C051-4332-4052-864C-60F6F145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14575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입력 구조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CE227-D38B-425A-8FCE-C1C287B1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4790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49F5A-4486-4959-B7AD-DDBC106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31457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한 번의 바코드/수기 체크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37B30-E63B-407F-929F-30338A79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47900"/>
            <a:ext cx="4210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6707B-F53E-4BA4-96DA-B8AFDBBC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14575"/>
            <a:ext cx="4038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가구 카드와 물품 태그를 듀얼 NFC로 분리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C8CAF-6E34-4632-A7F3-6A548A9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8BFE5-CE59-4CB4-A328-2FA5D98E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38475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판정 방식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C4A6B5-374F-46EB-B6E2-57894E2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7180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CE9E3-5E2D-431F-B81D-E2F76468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3847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수량 차감 중심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DEFE1-B96A-4EBB-90F6-B84F4E15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71800"/>
            <a:ext cx="4210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A32A5-67D6-4F88-965B-9B9D4A2C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38475"/>
            <a:ext cx="4038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가구 자격, 물품 상태, 한도, 재고, 카메라 검증을 통합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5B3E19-7FC3-4713-8682-9E919D03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DDB2F-D3CF-4575-A34B-39D70EDA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62375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장애 대응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CD95B-213F-4C65-B3F2-90D0A67D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9570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45973-3713-4CF1-A28A-A4B7D5C3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76237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출력 실패 시 운영자가 수기 보정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D7F5C5-7B18-4796-A241-D1911F42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4210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A540B0-1ED5-4AAC-89AF-3347DF24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762375"/>
            <a:ext cx="4038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거래 확정과 출력 상태를 분리해 중복 지급 위험 감소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A7D85-DC3B-45EB-B0F6-AD0A469E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67A058-A015-498D-AE31-1B9C692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86275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감사성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81DF2D-611B-485E-9825-EFD2DD31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1960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AABF36-1D4F-42FC-B159-A47FDBD9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48627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누가 왜 거절됐는지 복원 어려움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981FBF-2F24-4B2C-B1C0-D69B45FB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4210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57CDFB-CB06-4168-9F91-D106CDA9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86275"/>
            <a:ext cx="4038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정책 버전, 체크리스트, 입력 context, audit hash 저장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37F8EB-2DED-463C-B656-2CDAAD1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7C4EDE-99BA-4351-9114-23A43247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10175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현장성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A38C9F-071F-4F1D-BC6F-6D698B9D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4350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A0D5A1-84AB-44AD-8B4D-AAD8DFCF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21017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네트워크 의존 가능성 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E7E44F-E9DC-4EE5-B6EC-CEDC070C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43500"/>
            <a:ext cx="4210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F72FE3-8FFF-4AF2-BD60-E937D174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210175"/>
            <a:ext cx="4038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Raspberry Pi 내부에서 오프라인 우선 운영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7E6DBB-5603-4727-9756-7AE5075E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11201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AF8EBA-A01D-4552-B36C-7CE17D31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심사 포인트: 새로운 센서를 많이 붙인 것이 아니라, 재난 현장 업무 오류를 줄이는 폐쇄 루프를 구현했다는 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DB0A81-B235-4303-BB0F-6CA0E4CC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20726901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866732-4CDF-490E-91B1-80FFACC5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06. 파급력 및 기대효과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D6E9C-AAC4-48F4-B378-0A363405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파급력: 대피소 운영의 공정성과 설명 가능성을 높인다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8557C-E13B-4648-A0CC-C98258D1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7F8E5-A226-40C0-A2C0-68169B6B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412-0D3D-4BAA-955A-60313CD0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4193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50DDB-54E3-447C-A056-A74CC97E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479E8-869E-44BD-A4F4-440B4C60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공정성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1074B-A411-495B-ACBC-1B82168A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가구별 한도와 동일 물품 재처리를 자동 차단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B2A62-6287-4193-80F8-7743444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24000"/>
            <a:ext cx="24193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2C953-3A91-4A42-AE10-94BDC96B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2400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82132-D5FF-484D-ADF0-F4C0B100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47447"/>
                </a:solidFill>
                <a:latin typeface="Noto Sans CJK KR"/>
                <a:ea typeface="Noto Sans CJK KR"/>
                <a:cs typeface="Noto Sans CJK KR"/>
              </a:rPr>
              <a:t>복구성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D956F-6F94-4CA9-BE65-3B032A15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526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네트워크·프린터 실패를 거래 원장과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CA07E-BA54-469E-AED4-325A46FB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24193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7E752-5E9A-4001-B33F-581294E2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CDA0A-6C26-4EA9-BB12-DE24C417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E4B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6E4BD8"/>
                </a:solidFill>
                <a:latin typeface="Noto Sans CJK KR"/>
                <a:ea typeface="Noto Sans CJK KR"/>
                <a:cs typeface="Noto Sans CJK KR"/>
              </a:rPr>
              <a:t>운영성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9E8CD-EE9E-49D2-9BFB-0CAA7911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대시보드에서 재고 압박도와 거절 원인을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E22E8-7E5E-41CE-A7FB-3D21DD1D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24000"/>
            <a:ext cx="24193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AE3FA-E486-4529-8AF2-306DFF82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2400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BEC61-CA87-48EE-AECF-20214318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936400"/>
                </a:solidFill>
                <a:latin typeface="Noto Sans CJK KR"/>
                <a:ea typeface="Noto Sans CJK KR"/>
                <a:cs typeface="Noto Sans CJK KR"/>
              </a:rPr>
              <a:t>확장성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4E7C7-857A-4B77-B1B9-46B25A62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NFC, QR, 프린터, DB 어댑터를 교체 가능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FCB3E-F54B-47E7-84C7-F663A4BA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52387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CDEA2-79E2-49FA-999D-F18D3312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활용 시나리오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577DD-6B7C-4AB2-94FF-641DFD68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F84C4-5E12-4486-9A33-D3734BDB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재난 대피소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FD1518-7DFB-4905-995C-416DB7FB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05275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초기 배급 시 가구별 중복 수령과 물품 ID 재처리를 차단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B30660-261E-4009-8FC4-AD2E4D84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ABF299-19D5-4B74-99F4-F16E31F1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임시 구호시설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1DB46-470A-4CEA-886C-32D89A44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교대 근무자가 같은 원장과 판정 코드를 보고 업무 인수인계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33A653-A532-498E-85BE-B7461C37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54292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BA6D6B-4A6F-4F42-A444-26FC5BE3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발전 가능성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32C54-360E-418A-B275-AFB6213A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14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3F3363-2BEA-4A23-86EE-66961FAF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실측 데이터 축적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87035D-8D4E-4964-81F9-EFE5C8EE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05275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NFC 100회, 프린터 30회, 재부팅 10회 결과를 리포트에 추가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A66689-6833-4042-AF27-BC315014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14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6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FB7CAE-BD9D-40C9-B4CD-4DF32586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현장 연동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5DC760-2765-4C19-B668-640BA34A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05375"/>
            <a:ext cx="455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지자체/기관 명부 CSV, 물품 입고 스캔, 중앙 서버 동기화로 확장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98A4C1-3FF9-426B-A31B-9A4EF06F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283700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633B56-8141-4497-8593-8BAB6DB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1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07. 일정 및 업무 분장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4ACD4-EBF4-4ED5-8D23-8C0EFBAF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개발 일정과 업무 분장: 남은 시간은 실측 증거에 집중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130DE-B0F4-4D9F-81E0-02201C26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B6C49-B7ED-43DB-887C-E2B5A758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A4D2A-E7A5-489F-B834-68E2B699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F88D7-3443-46F6-BE3A-1154331A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7162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단계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199F5-526E-484A-B980-D2009958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9485E-BD25-4A09-8C25-5B5F4A8A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571625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작업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47CD4-F4A9-4483-949C-35141F1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638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7ED03-25EE-4A26-AB0B-2D74A2AD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71625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산출물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43B46-13FA-4B06-8658-693492D9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D0C36-562B-466E-8653-FDEB4ADF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0502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1단계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EB64B-4FDC-4F3A-97CD-0B2D85B6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383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B7333-4AA9-4AEA-ADC7-78BD9F75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105025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문제·정책 정의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38371-C516-4F0B-B439-19419E5C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638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66AF5-E352-492D-AAB4-3BF0C36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05025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지급 한도, 중복 차단, 거절 코드 체계화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A98C9-07FC-4877-B144-8C3A210E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3847C-0995-4A74-8183-FBDE9D9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3842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2단계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BC15C-7526-4A3D-A674-AA01DE4C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717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73A1A-A614-4120-AA05-8F23239F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638425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MVP 구현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C7E31-D08A-4109-A0EA-3C1C04A9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638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F655A-F58B-40C6-8E1E-D485EE24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38425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Python 로컬 서버, SQLite 원장, 키오스크 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24A57-D6BC-4A14-A189-FBD16F80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BBCEB-0F79-4299-9E84-24FF00DE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7182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3단계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6F3CFC-4BB2-4813-96D3-2BE33FC3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051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CE104-3A36-4920-91FE-8A42F39F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171825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검증 체계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7B5B89-D9B5-4772-9109-B5EF1656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638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EEDA7A-FAA0-4585-95DA-FC07DFBD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단위 테스트, SW Evidence Suite, 실험 리포트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15DC07-3A2D-43AD-9AB0-0352E839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CAB32C-FF9B-4E99-896F-E0D70D62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0522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4단계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F00D10-B4E0-47D7-821C-8DB498C1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385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A0800F-E03A-4FC1-87FC-45A24E45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705225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실장비 bring-up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B9074F-EB02-43A4-BF98-34829061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38550"/>
            <a:ext cx="638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8BEAF5-F4C2-4F46-9049-6159770B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05225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Pi 실행, NFC reader name 고정, 프린터/CUPS 확인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ED92CA-2528-4DBE-B6A1-23E4D636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DAFB1F-82C9-4330-BFB8-C3DA9201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3862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5단계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709CEA-9785-45AB-A507-5075FA17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719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F8AE5D-8883-43B9-B847-7F1F7030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38625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제출 마감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A6A9C8-8450-4465-B5EE-682799B4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71950"/>
            <a:ext cx="638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7620">
            <a:solidFill>
              <a:srgbClr val="D8DE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777DAC-7164-4FDD-BC7D-F6E0233B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38625"/>
            <a:ext cx="621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25" b="0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3분 영상 촬영, PPT PDF 변환, 미측정 항목 표기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84E759-9898-4EA0-B96F-EAD9C0DE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523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8DEE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1B7CEC-E96E-47C8-91FE-2278A7B3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11318"/>
                </a:solidFill>
                <a:latin typeface="Noto Sans CJK KR"/>
                <a:ea typeface="Noto Sans CJK KR"/>
                <a:cs typeface="Noto Sans CJK KR"/>
              </a:rPr>
              <a:t>업무 분장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EF2713-0EB0-46C8-9FB0-3101F9DE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470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기획/정책: 지급 기준·대회 문서·발표 흐름</a:t>
            </a:r>
          </a:p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SW/DB: API·정책 엔진·SQLite·테스트</a:t>
            </a:r>
          </a:p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UI/시연: 키오스크 화면·대시보드·영상 촬영</a:t>
            </a:r>
          </a:p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HW: Pi, NFC, 프린터, 카메라 bring-up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8C165B-2296-4F6F-B4CB-6471CE6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542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AD1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1AA10D-D66B-49AF-AAD4-D59A0762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24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75" b="1">
                <a:solidFill>
                  <a:srgbClr val="1769E0"/>
                </a:solidFill>
                <a:latin typeface="Noto Sans CJK KR"/>
                <a:ea typeface="Noto Sans CJK KR"/>
                <a:cs typeface="Noto Sans CJK KR"/>
              </a:rPr>
              <a:t>최종 제출 전 체크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23FEAE-4FC9-4D04-A42F-066E592F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1. 시연 영상 URL 삽입</a:t>
            </a:r>
          </a:p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2. 팀원 성명/학과/연락처 표지 반영</a:t>
            </a:r>
          </a:p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3. PPT를 PDF로 변환 후 가이드 기준으로 제출</a:t>
            </a:r>
          </a:p>
          <a:p xmlns:a="http://schemas.openxmlformats.org/drawingml/2006/main">
            <a:pPr algn="l">
              <a:def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1C2430"/>
                </a:solidFill>
                <a:latin typeface="Noto Sans CJK KR"/>
                <a:ea typeface="Noto Sans CJK KR"/>
                <a:cs typeface="Noto Sans CJK KR"/>
              </a:rPr>
              <a:t>4. 실장비 수치가 생기면 12-13장에 업데이트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E30B08-C47B-4F08-8207-FE2EE522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750" b="0">
                <a:solidFill>
                  <a:srgbClr val="5F6A75"/>
                </a:solidFill>
                <a:latin typeface="Noto Sans CJK KR"/>
                <a:ea typeface="Noto Sans CJK KR"/>
                <a:cs typeface="Noto Sans CJK KR"/>
              </a:rPr>
              <a:t>ReliefCheck · CarpeDM · Embedded SW Contest</a:t>
            </a:r>
          </a:p>
        </p:txBody>
      </p:sp>
    </p:spTree>
    <p:extLst>
      <p:ext uri="{BB962C8B-B14F-4D97-AF65-F5344CB8AC3E}">
        <p14:creationId xmlns:p14="http://schemas.microsoft.com/office/powerpoint/2010/main" val="56396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2026-09-03T02:45:37.6900000Z</dcterms:created>
  <dcterms:modified xsi:type="dcterms:W3CDTF">2026-09-03T02:45:37.6900000Z</dcterms:modified>
</coreProperties>
</file>